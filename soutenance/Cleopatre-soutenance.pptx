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20 s — Poser le projet en 20 s : deux boutiques, un catalogue de 81 produits, un an de développement en cycles courts.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25 s — Annoncer la fin : « à la fin, vous saurez pourquoi le stock ne peut pas se tromper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s — Respiration. Ne rien dire de plus que le titre.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45 s — Ancrage métier : le conseil est la valeur ; le site ne doit pas l'appauvrir.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45 s — Formuler les trois contraintes qui ont commandé le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s — Transition préparée : « entrons dans la solution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45 s — Insister : la couche « métier » ne connaît ni React ni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35 s — Dire le cadre sans s'y attarder : la méthode sert la preuve, pas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40 s — Chiffres lus dans le dépôt au build, pas recopiés.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40 s — Une phrase par technologie, pas une publicité.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50 s — Montrer la planche d'ensemble : c'est la figure que le jury voudra zoomer.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45 s — Deux modèles présentés ensemble, parce qu'ils se tiennent l'un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s — Marquer le passage de la conception à la réalisation.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35 s — Récit court : ce qui marchait à la fin du sprint 1, sans enjoliver.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40 s — Faire voir le diagramme d'activité : les branches d'erreur comptent autant que le chemin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55 s — C'est la glissade la plus technique : la dire lentement, une phrase par puce.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40 s — Insister sur l'exploitant : celui qui saisit est un utilisateur à part entière.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35 s — « même maison, tout a changé » : la phrase-miroir du prompt, à dire une fois, pas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s — Préparer la question-piège : le jury va chercher le paiement.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50 s — Réponse préparée à « et le paiement par carte ? » : il n'existe pas, et c'est un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40 s — Inoculation : la question posée ici désarme la même question posée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s — Ralentir.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40 s — Le mot « prouve » est choisi : chaque puce a une commande derrière 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35 s — Finir fort sur les limites : c'est ce qui rend le reste crédible.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360 s — Six minutes chrono. Si le réseau tombe, niveau L2 : captures, puis L3 narration en moins de 20 s par 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15 s — Ne pas ajouter de conclusion : elle a été dite en 17a/17b.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30 s — À ouvrir si on demande « que se passe-t-il après livraison ?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30 s — La parade à « êtes-vous sûr de vos chiffres ? » : deux voies indépendantes.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30 s — « l'annexe A3 le prouve » : phrase de secours prévue par le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30 s — Niveaux L1→L3, kit J, trois commandes de reconstruction.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0">
                <a:solidFill>
                  <a:srgbClr val="F3ECDD"/>
                </a:solidFill>
                <a:latin typeface="Georgia"/>
              </a:rPr>
              <a:t>Cléopâtre</a:t>
            </a:r>
          </a:p>
        </p:txBody>
      </p:sp>
      <p:sp>
        <p:nvSpPr>
          <p:cNvPr id="6" name="contenu"/>
          <p:cNvSpPr txBox="1"/>
          <p:nvPr/>
        </p:nvSpPr>
        <p:spPr>
          <a:xfrm>
            <a:off x="822960" y="283464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C9A959"/>
                </a:solidFill>
                <a:latin typeface="Calibri"/>
              </a:rPr>
              <a:t>Espace Santé Beauté — plateforme e-commerce d'une parapharmacie tunisienne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4480560" cy="27432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u"/>
          <p:cNvSpPr txBox="1"/>
          <p:nvPr/>
        </p:nvSpPr>
        <p:spPr>
          <a:xfrm>
            <a:off x="822960" y="438912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B9AFA0"/>
                </a:solidFill>
                <a:latin typeface="Calibri"/>
              </a:rPr>
              <a:t>Ezzahra · Hammam-Lif — 81 produits, 43 routes, 24 tables</a:t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B9AFA0"/>
                </a:solidFill>
                <a:latin typeface="Calibri"/>
              </a:rPr>
              <a:t>Next.js 16 · React 19 · PostgreSQL 18 — mémoire de fin d'études, [établissement à rappeler]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416052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0" y="416052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u"/>
          <p:cNvSpPr txBox="1"/>
          <p:nvPr/>
        </p:nvSpPr>
        <p:spPr>
          <a:xfrm>
            <a:off x="9710928" y="44439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201A13"/>
                </a:solidFill>
                <a:latin typeface="Georgia"/>
              </a:rPr>
              <a:t>C</a:t>
            </a:r>
          </a:p>
        </p:txBody>
      </p:sp>
      <p:sp>
        <p:nvSpPr>
          <p:cNvPr id="12" name="contenu"/>
          <p:cNvSpPr txBox="1"/>
          <p:nvPr/>
        </p:nvSpPr>
        <p:spPr>
          <a:xfrm>
            <a:off x="10808208" y="44439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0">
                <a:solidFill>
                  <a:srgbClr val="201A13"/>
                </a:solidFill>
                <a:latin typeface="Georgia"/>
              </a:rPr>
              <a:t>[É]</a:t>
            </a:r>
          </a:p>
        </p:txBody>
      </p:sp>
      <p:sp>
        <p:nvSpPr>
          <p:cNvPr id="13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 / 30 · couverture</a:t>
            </a:r>
          </a:p>
        </p:txBody>
      </p:sp>
      <p:sp>
        <p:nvSpPr>
          <p:cNvPr id="14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2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>
                <a:solidFill>
                  <a:srgbClr val="F3ECDD"/>
                </a:solidFill>
                <a:latin typeface="Georgia"/>
              </a:rPr>
              <a:t>Ce que je vais démontrer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498079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2000" b="1">
                <a:solidFill>
                  <a:srgbClr val="C9A959"/>
                </a:solidFill>
                <a:latin typeface="Calibri"/>
              </a:rPr>
              <a:t>▸ </a:t>
            </a:r>
            <a:r>
              <a:rPr sz="2000">
                <a:solidFill>
                  <a:srgbClr val="F3ECDD"/>
                </a:solidFill>
                <a:latin typeface="Calibri"/>
              </a:rPr>
              <a:t>le problème du comptoir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2000" b="1">
                <a:solidFill>
                  <a:srgbClr val="C9A959"/>
                </a:solidFill>
                <a:latin typeface="Calibri"/>
              </a:rPr>
              <a:t>▸ </a:t>
            </a:r>
            <a:r>
              <a:rPr sz="2000">
                <a:solidFill>
                  <a:srgbClr val="F3ECDD"/>
                </a:solidFill>
                <a:latin typeface="Calibri"/>
              </a:rPr>
              <a:t>la méthode en cinq sprints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2000" b="1">
                <a:solidFill>
                  <a:srgbClr val="C9A959"/>
                </a:solidFill>
                <a:latin typeface="Calibri"/>
              </a:rPr>
              <a:t>▸ </a:t>
            </a:r>
            <a:r>
              <a:rPr sz="2000">
                <a:solidFill>
                  <a:srgbClr val="F3ECDD"/>
                </a:solidFill>
                <a:latin typeface="Calibri"/>
              </a:rPr>
              <a:t>l'architecture et ses garde-fous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2000" b="1">
                <a:solidFill>
                  <a:srgbClr val="C9A959"/>
                </a:solidFill>
                <a:latin typeface="Calibri"/>
              </a:rPr>
              <a:t>▸ </a:t>
            </a:r>
            <a:r>
              <a:rPr sz="2000">
                <a:solidFill>
                  <a:srgbClr val="F3ECDD"/>
                </a:solidFill>
                <a:latin typeface="Calibri"/>
              </a:rPr>
              <a:t>trois preuves de solidité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2000" b="1">
                <a:solidFill>
                  <a:srgbClr val="C9A959"/>
                </a:solidFill>
                <a:latin typeface="Calibri"/>
              </a:rPr>
              <a:t>▸ </a:t>
            </a:r>
            <a:r>
              <a:rPr sz="2000">
                <a:solidFill>
                  <a:srgbClr val="F3ECDD"/>
                </a:solidFill>
                <a:latin typeface="Calibri"/>
              </a:rPr>
              <a:t>ce qui reste à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828800"/>
            <a:ext cx="2743200" cy="3291840"/>
          </a:xfrm>
          <a:prstGeom prst="roundRect">
            <a:avLst>
              <a:gd name="adj" fmla="val 16000"/>
            </a:avLst>
          </a:prstGeom>
          <a:solidFill>
            <a:srgbClr val="2B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u"/>
          <p:cNvSpPr txBox="1"/>
          <p:nvPr/>
        </p:nvSpPr>
        <p:spPr>
          <a:xfrm>
            <a:off x="9006840" y="2057400"/>
            <a:ext cx="2377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>15 minutes</a:t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>5 secours</a:t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>4 annexes</a:t>
            </a:r>
          </a:p>
        </p:txBody>
      </p:sp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2 / 30 · plan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D1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3035808"/>
            <a:ext cx="12191695" cy="45720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u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0">
                <a:solidFill>
                  <a:srgbClr val="F3ECDD"/>
                </a:solidFill>
                <a:latin typeface="Georgia"/>
              </a:rPr>
              <a:t>I · Le problème</a:t>
            </a:r>
          </a:p>
        </p:txBody>
      </p:sp>
      <p:sp>
        <p:nvSpPr>
          <p:cNvPr id="7" name="contenu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>section I</a:t>
            </a:r>
          </a:p>
        </p:txBody>
      </p:sp>
      <p:sp>
        <p:nvSpPr>
          <p:cNvPr id="8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D1 / 30 · I</a:t>
            </a:r>
          </a:p>
        </p:txBody>
      </p:sp>
      <p:sp>
        <p:nvSpPr>
          <p:cNvPr id="9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3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Vendre à distance ce qui se décide au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11 besoins de peau à traduire en données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3 décimales légales, pas de centime flottant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deux boutiques, un seul stock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2370908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2151453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3 / 30 · I.2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4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Pourquoi une vitrine ne suffit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le prix affiché doit être le prix facturé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deux clics ne doivent pas créer deux commandes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un invité doit pouvoir être cru sans être tracé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2855867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2636411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4 / 30 · I.3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D2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3035808"/>
            <a:ext cx="12191695" cy="45720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u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0">
                <a:solidFill>
                  <a:srgbClr val="F3ECDD"/>
                </a:solidFill>
                <a:latin typeface="Georgia"/>
              </a:rPr>
              <a:t>II · La méthode et la solution</a:t>
            </a:r>
          </a:p>
        </p:txBody>
      </p:sp>
      <p:sp>
        <p:nvSpPr>
          <p:cNvPr id="7" name="contenu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>section II</a:t>
            </a:r>
          </a:p>
        </p:txBody>
      </p:sp>
      <p:sp>
        <p:nvSpPr>
          <p:cNvPr id="8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D2 / 30 · II</a:t>
            </a:r>
          </a:p>
        </p:txBody>
      </p:sp>
      <p:sp>
        <p:nvSpPr>
          <p:cNvPr id="9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5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La réponse : un socle, six couches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Next.js 16 · React 19 · TypeScript strict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Drizzle + PostgreSQL 18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aucune dépendance de paiement inutile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3828723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3609267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5 / 30 · II.2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6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Cinq sprints, deux jalons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S0 cadrage, puis 4 × 2 semaines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R1 = S1 + S2, R2 = S3 + S4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definition of done : 12 critères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2509048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2289592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6 / 30 · II.3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7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Le catalogue comme base de connaissance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81 produits, 16 marques, 7 univers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11 besoins reliés aux fiches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chaque rayon vérifié, jamais deviné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5839819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5620363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7 / 30 · III.1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8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La pile, et pourquoi 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Server Actions : la validation est côté serveur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Zod aux frontières, TypeScript partout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base embarquée au développement, PostgreSQL 18 en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2994006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2774551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8 / 30 · II.4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9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Vingt-quatre tables, un seul invariant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202 colonnes, 19 clés étrangères, 50 index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le prix de vente est figé dans la commande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le stock ne se décrmente qu'avec son mouvement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8119872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7900416"/>
          </a:xfrm>
          <a:prstGeom prst="rect">
            <a:avLst/>
          </a:prstGeom>
          <a:effectLst/>
        </p:spPr>
      </p:pic>
      <p:pic>
        <p:nvPicPr>
          <p:cNvPr id="9" name="Picture 8" descr="figR1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160520"/>
            <a:ext cx="3108960" cy="1614976"/>
          </a:xfrm>
          <a:prstGeom prst="rect">
            <a:avLst/>
          </a:prstGeom>
          <a:effectLst/>
        </p:spPr>
      </p:pic>
      <p:sp>
        <p:nvSpPr>
          <p:cNvPr id="10" name="an.legende"/>
          <p:cNvSpPr txBox="1"/>
          <p:nvPr/>
        </p:nvSpPr>
        <p:spPr>
          <a:xfrm>
            <a:off x="8549640" y="5760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B9AFA0"/>
                </a:solidFill>
                <a:latin typeface="Calibri"/>
              </a:rPr>
              <a:t>zoom 400 % — les clés étrangères, colonne par colonne</a:t>
            </a:r>
          </a:p>
        </p:txBody>
      </p:sp>
      <p:sp>
        <p:nvSpPr>
          <p:cNvPr id="11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9 / 30 · III.2</a:t>
            </a:r>
          </a:p>
        </p:txBody>
      </p:sp>
      <p:sp>
        <p:nvSpPr>
          <p:cNvPr id="12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10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Modèle de données, modèle d'argent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tout est entier : 1 DT = 1000 millimes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remise en Math.floor, jamais en arrondi commercial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la facture est générée sans bibliothèque externe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6846724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6627269"/>
          </a:xfrm>
          <a:prstGeom prst="rect">
            <a:avLst/>
          </a:prstGeom>
          <a:effectLst/>
        </p:spPr>
      </p:pic>
      <p:pic>
        <p:nvPicPr>
          <p:cNvPr id="9" name="Picture 8" descr="fig29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160520"/>
            <a:ext cx="3108960" cy="2022141"/>
          </a:xfrm>
          <a:prstGeom prst="rect">
            <a:avLst/>
          </a:prstGeom>
          <a:effectLst/>
        </p:spPr>
      </p:pic>
      <p:sp>
        <p:nvSpPr>
          <p:cNvPr id="10" name="an.legende"/>
          <p:cNvSpPr txBox="1"/>
          <p:nvPr/>
        </p:nvSpPr>
        <p:spPr>
          <a:xfrm>
            <a:off x="8549640" y="5760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B9AFA0"/>
                </a:solidFill>
                <a:latin typeface="Calibri"/>
              </a:rPr>
              <a:t>zoom 400 % — l'entier millime</a:t>
            </a:r>
          </a:p>
        </p:txBody>
      </p:sp>
      <p:sp>
        <p:nvSpPr>
          <p:cNvPr id="11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10 / 30 · III.4</a:t>
            </a:r>
          </a:p>
        </p:txBody>
      </p:sp>
      <p:sp>
        <p:nvSpPr>
          <p:cNvPr id="12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D3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3035808"/>
            <a:ext cx="12191695" cy="45720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u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0">
                <a:solidFill>
                  <a:srgbClr val="F3ECDD"/>
                </a:solidFill>
                <a:latin typeface="Georgia"/>
              </a:rPr>
              <a:t>III · Ce qui a été construit</a:t>
            </a:r>
          </a:p>
        </p:txBody>
      </p:sp>
      <p:sp>
        <p:nvSpPr>
          <p:cNvPr id="7" name="contenu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>section III</a:t>
            </a:r>
          </a:p>
        </p:txBody>
      </p:sp>
      <p:sp>
        <p:nvSpPr>
          <p:cNvPr id="8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D3 / 30 · III</a:t>
            </a:r>
          </a:p>
        </p:txBody>
      </p:sp>
      <p:sp>
        <p:nvSpPr>
          <p:cNvPr id="9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11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Sprint 1 — ouvrir la boutique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43 routes publiées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comptes, rôles, sessions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catalogue navigable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2855867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2636411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11 / 30 · IV.1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12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Sprint 2 — le panier qui ne ment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panier, promotions, livraison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seuil de gratuité calculé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aucun prix stocké « pour plus tard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9299912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9080457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12 / 30 · IV.2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13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Sprint 3 — commander sans double 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verrou de ligne avant écriture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numéro réservé, jusqu'à cinq tirages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stock négatif = transaction annulée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4313682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4094226"/>
          </a:xfrm>
          <a:prstGeom prst="rect">
            <a:avLst/>
          </a:prstGeom>
          <a:effectLst/>
        </p:spPr>
      </p:pic>
      <p:pic>
        <p:nvPicPr>
          <p:cNvPr id="9" name="Picture 8" descr="fig26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160520"/>
            <a:ext cx="3108960" cy="1496004"/>
          </a:xfrm>
          <a:prstGeom prst="rect">
            <a:avLst/>
          </a:prstGeom>
          <a:effectLst/>
        </p:spPr>
      </p:pic>
      <p:sp>
        <p:nvSpPr>
          <p:cNvPr id="10" name="an.legende"/>
          <p:cNvSpPr txBox="1"/>
          <p:nvPr/>
        </p:nvSpPr>
        <p:spPr>
          <a:xfrm>
            <a:off x="8549640" y="5760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B9AFA0"/>
                </a:solidFill>
                <a:latin typeface="Calibri"/>
              </a:rPr>
              <a:t>zoom 400 % — le verrou avant l'écriture</a:t>
            </a:r>
          </a:p>
        </p:txBody>
      </p:sp>
      <p:sp>
        <p:nvSpPr>
          <p:cNvPr id="11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13 / 30 · IV.3</a:t>
            </a:r>
          </a:p>
        </p:txBody>
      </p:sp>
      <p:sp>
        <p:nvSpPr>
          <p:cNvPr id="12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14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Sprint 4 — le back-office qui survit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14 actions d'administration, 15 écrans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statuts verrouillés par table de transitions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journal d'audit even sur les échecs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3411365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3191909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14 / 30 · IV.4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15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Avant / après, sans retenue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le comparatif est compté, pas ressenti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la colonne « avant » reste hypothétique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ce qui n'a pas été fait est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3135085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2915630"/>
          </a:xfrm>
          <a:prstGeom prst="rect">
            <a:avLst/>
          </a:prstGeom>
          <a:effectLst/>
        </p:spPr>
      </p:pic>
      <p:pic>
        <p:nvPicPr>
          <p:cNvPr id="9" name="Picture 8" descr="fig04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160520"/>
            <a:ext cx="3108960" cy="1311434"/>
          </a:xfrm>
          <a:prstGeom prst="rect">
            <a:avLst/>
          </a:prstGeom>
          <a:effectLst/>
        </p:spPr>
      </p:pic>
      <p:sp>
        <p:nvSpPr>
          <p:cNvPr id="10" name="an.legende"/>
          <p:cNvSpPr txBox="1"/>
          <p:nvPr/>
        </p:nvSpPr>
        <p:spPr>
          <a:xfrm>
            <a:off x="8549640" y="5760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B9AFA0"/>
                </a:solidFill>
                <a:latin typeface="Calibri"/>
              </a:rPr>
              <a:t>zoom 400 % — la colonne « avant » reste entre crochets</a:t>
            </a:r>
          </a:p>
        </p:txBody>
      </p:sp>
      <p:sp>
        <p:nvSpPr>
          <p:cNvPr id="11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15 / 30 · IV.6</a:t>
            </a:r>
          </a:p>
        </p:txBody>
      </p:sp>
      <p:sp>
        <p:nvSpPr>
          <p:cNvPr id="12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D4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3035808"/>
            <a:ext cx="12191695" cy="45720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u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0">
                <a:solidFill>
                  <a:srgbClr val="F3ECDD"/>
                </a:solidFill>
                <a:latin typeface="Georgia"/>
              </a:rPr>
              <a:t>IV · Solidité</a:t>
            </a:r>
          </a:p>
        </p:txBody>
      </p:sp>
      <p:sp>
        <p:nvSpPr>
          <p:cNvPr id="7" name="contenu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>section IV</a:t>
            </a:r>
          </a:p>
        </p:txBody>
      </p:sp>
      <p:sp>
        <p:nvSpPr>
          <p:cNvPr id="8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D4 / 30 · IV</a:t>
            </a:r>
          </a:p>
        </p:txBody>
      </p:sp>
      <p:sp>
        <p:nvSpPr>
          <p:cNvPr id="9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16a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Sept couches de sécurité, une par 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scrypt + sel, comparaison à temps constant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cookie httpOnly, SameSite, secure en production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limiteur compté en base, pas en mémoire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3690583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3471128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16a / 30 · II.5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16b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Et le paiement en ligne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la carte est refusée par le serveur, pas cachée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livraison et virement sont la réalité du terrain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l'abstraction est prête, la passerelle ne l'est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6846724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6627269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16b / 30 · II.5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D5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3035808"/>
            <a:ext cx="12191695" cy="45720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u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0">
                <a:solidFill>
                  <a:srgbClr val="F3ECDD"/>
                </a:solidFill>
                <a:latin typeface="Georgia"/>
              </a:rPr>
              <a:t>V · Bilan</a:t>
            </a:r>
          </a:p>
        </p:txBody>
      </p:sp>
      <p:sp>
        <p:nvSpPr>
          <p:cNvPr id="7" name="contenu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C9A959"/>
                </a:solidFill>
                <a:latin typeface="Calibri"/>
              </a:rPr>
              <a:t>section V</a:t>
            </a:r>
          </a:p>
        </p:txBody>
      </p:sp>
      <p:sp>
        <p:nvSpPr>
          <p:cNvPr id="8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D5 / 30 · V</a:t>
            </a:r>
          </a:p>
        </p:txBody>
      </p:sp>
      <p:sp>
        <p:nvSpPr>
          <p:cNvPr id="9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17a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Ce que le livrable prouve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deux harnais indépendants, mêmes sorties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deux builds, un seul sha256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quatre injections de chaos, quatre ref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7133540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6914084"/>
          </a:xfrm>
          <a:prstGeom prst="rect">
            <a:avLst/>
          </a:prstGeom>
          <a:effectLst/>
        </p:spPr>
      </p:pic>
      <p:pic>
        <p:nvPicPr>
          <p:cNvPr id="9" name="Picture 8" descr="fig43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160520"/>
            <a:ext cx="3108960" cy="1242706"/>
          </a:xfrm>
          <a:prstGeom prst="rect">
            <a:avLst/>
          </a:prstGeom>
          <a:effectLst/>
        </p:spPr>
      </p:pic>
      <p:sp>
        <p:nvSpPr>
          <p:cNvPr id="10" name="an.legende"/>
          <p:cNvSpPr txBox="1"/>
          <p:nvPr/>
        </p:nvSpPr>
        <p:spPr>
          <a:xfrm>
            <a:off x="8549640" y="5760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B9AFA0"/>
                </a:solidFill>
                <a:latin typeface="Calibri"/>
              </a:rPr>
              <a:t>zoom 400 % — le hash qui doit tomber deux fois</a:t>
            </a:r>
          </a:p>
        </p:txBody>
      </p:sp>
      <p:sp>
        <p:nvSpPr>
          <p:cNvPr id="11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17a / 30 · V.1</a:t>
            </a:r>
          </a:p>
        </p:txBody>
      </p:sp>
      <p:sp>
        <p:nvSpPr>
          <p:cNvPr id="12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17b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Ce qui reste ouvert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passerelle de paiement réelle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arabe et mise en page miroir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mesures d'exploitation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2855867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2636411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17b / 30 · V.2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 xmlns:p159="http://schemas.microsoft.com/office/powerpoint/2015/09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18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Démo : une commande de bout en 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recherche, fiche, panier, code promo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validation et stock à l'écran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800" b="1">
                <a:solidFill>
                  <a:srgbClr val="C9A959"/>
                </a:solidFill>
                <a:latin typeface="Calibri"/>
              </a:rPr>
              <a:t>▸ </a:t>
            </a:r>
            <a:r>
              <a:rPr sz="1800">
                <a:solidFill>
                  <a:srgbClr val="F3ECDD"/>
                </a:solidFill>
                <a:latin typeface="Calibri"/>
              </a:rPr>
              <a:t>confirmation et suivi invité</a:t>
            </a:r>
          </a:p>
        </p:txBody>
      </p:sp>
      <p:sp>
        <p:nvSpPr>
          <p:cNvPr id="7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18 / 30 · IV.3</a:t>
            </a:r>
          </a:p>
        </p:txBody>
      </p:sp>
      <p:sp>
        <p:nvSpPr>
          <p:cNvPr id="8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C9A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19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>
                <a:solidFill>
                  <a:srgbClr val="F3ECDD"/>
                </a:solidFill>
                <a:latin typeface="Georgia"/>
              </a:rPr>
              <a:t>Merci</a:t>
            </a:r>
          </a:p>
        </p:txBody>
      </p:sp>
      <p:sp>
        <p:nvSpPr>
          <p:cNvPr id="6" name="contenu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C9A959"/>
                </a:solidFill>
                <a:latin typeface="Calibri"/>
              </a:rPr>
              <a:t>questions — je préfère celles qui fâchent</a:t>
            </a:r>
          </a:p>
        </p:txBody>
      </p:sp>
      <p:sp>
        <p:nvSpPr>
          <p:cNvPr id="7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19 / 30 · conclusion</a:t>
            </a:r>
          </a:p>
        </p:txBody>
      </p:sp>
      <p:sp>
        <p:nvSpPr>
          <p:cNvPr id="8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A9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ANN 1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Annexe A1 — les sept statuts de commande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3620044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3400588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A1 / 30 · annexe A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A9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ANN 2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Annexe A2 — ce qui est vérifié à chaque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2370908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2151453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A2 / 30 · annexe A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A9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ANN 3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Annexe A3 — le modèle d'argent en 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6846724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6627269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A3 / 30 · annexe A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329184"/>
          </a:xfrm>
          <a:prstGeom prst="roundRect">
            <a:avLst>
              <a:gd name="adj" fmla="val 16000"/>
            </a:avLst>
          </a:prstGeom>
          <a:solidFill>
            <a:srgbClr val="A9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n.pastille"/>
          <p:cNvSpPr txBox="1"/>
          <p:nvPr/>
        </p:nvSpPr>
        <p:spPr>
          <a:xfrm>
            <a:off x="566928" y="4206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01A13"/>
                </a:solidFill>
                <a:latin typeface="Calibri"/>
              </a:rPr>
              <a:t>ANN 4</a:t>
            </a:r>
          </a:p>
        </p:txBody>
      </p:sp>
      <p:sp>
        <p:nvSpPr>
          <p:cNvPr id="5" name="contenu"/>
          <p:cNvSpPr txBox="1"/>
          <p:nvPr/>
        </p:nvSpPr>
        <p:spPr>
          <a:xfrm>
            <a:off x="822960" y="8229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3ECDD"/>
                </a:solidFill>
                <a:latin typeface="Georgia"/>
              </a:rPr>
              <a:t>Annexe A4 — déploiement et secours du jour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833872" y="1307592"/>
            <a:ext cx="5980176" cy="2994006"/>
          </a:xfrm>
          <a:prstGeom prst="roundRect">
            <a:avLst>
              <a:gd name="adj" fmla="val 16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2774551"/>
          </a:xfrm>
          <a:prstGeom prst="rect">
            <a:avLst/>
          </a:prstGeom>
          <a:effectLst/>
        </p:spPr>
      </p:pic>
      <p:sp>
        <p:nvSpPr>
          <p:cNvPr id="9" name="an.pied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Cléopâtre · soutenance A4 / 30 · annexe A</a:t>
            </a:r>
          </a:p>
        </p:txBody>
      </p:sp>
      <p:sp>
        <p:nvSpPr>
          <p:cNvPr id="10" name="an.pied"/>
          <p:cNvSpPr txBox="1"/>
          <p:nvPr/>
        </p:nvSpPr>
        <p:spPr>
          <a:xfrm>
            <a:off x="10424160" y="6272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AFA0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Cléopâtre — soutenance (26 + 4 annexes)</dc:title>
  <dc:subject>Plateforme e-commerce d'une parapharmacie tunisienne</dc:subject>
  <dc:creator>[Prénom NOM de l'auteur]</dc:creator>
  <cp:keywords>Cléopâtre;parapharmacie;Next.js;Drizzle;PostgreSQL;soutenance</cp:keywords>
  <dc:description>Composition verrouillée : 26 glissades d'exposé + 4 annexes. Morph réel p159 par objet, fondu en repli.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